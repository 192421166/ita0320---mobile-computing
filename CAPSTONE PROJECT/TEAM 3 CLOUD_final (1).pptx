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8"/>
  </p:notesMasterIdLst>
  <p:sldIdLst>
    <p:sldId id="276" r:id="rId2"/>
    <p:sldId id="258" r:id="rId3"/>
    <p:sldId id="296" r:id="rId4"/>
    <p:sldId id="262" r:id="rId5"/>
    <p:sldId id="297" r:id="rId6"/>
    <p:sldId id="263" r:id="rId7"/>
    <p:sldId id="310" r:id="rId8"/>
    <p:sldId id="260" r:id="rId9"/>
    <p:sldId id="307" r:id="rId10"/>
    <p:sldId id="303" r:id="rId11"/>
    <p:sldId id="308" r:id="rId12"/>
    <p:sldId id="304" r:id="rId13"/>
    <p:sldId id="309" r:id="rId14"/>
    <p:sldId id="306" r:id="rId15"/>
    <p:sldId id="311" r:id="rId16"/>
    <p:sldId id="302" r:id="rId17"/>
  </p:sldIdLst>
  <p:sldSz cx="9144000" cy="5143500" type="screen16x9"/>
  <p:notesSz cx="6858000" cy="9144000"/>
  <p:embeddedFontLst>
    <p:embeddedFont>
      <p:font typeface="Berlin Sans FB" panose="020E0602020502020306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9262D2-6FC7-45B2-B9CE-DEECC1D60572}" v="23" dt="2026-06-16T08:23:27.017"/>
  </p1510:revLst>
</p1510:revInfo>
</file>

<file path=ppt/tableStyles.xml><?xml version="1.0" encoding="utf-8"?>
<a:tblStyleLst xmlns:a="http://schemas.openxmlformats.org/drawingml/2006/main" def="{4F419299-B9B3-47DE-91A3-C389BF4D9C2F}">
  <a:tblStyle styleId="{4F419299-B9B3-47DE-91A3-C389BF4D9C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1955" name="Google Shape;1955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6">
          <a:extLst>
            <a:ext uri="{FF2B5EF4-FFF2-40B4-BE49-F238E27FC236}">
              <a16:creationId xmlns:a16="http://schemas.microsoft.com/office/drawing/2014/main" id="{20BEDBA0-BE20-7AF7-7421-3A00B227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e013acee29_0_45:notes">
            <a:extLst>
              <a:ext uri="{FF2B5EF4-FFF2-40B4-BE49-F238E27FC236}">
                <a16:creationId xmlns:a16="http://schemas.microsoft.com/office/drawing/2014/main" id="{A7257758-15D8-618F-E00E-78CF2A2CAD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2158" name="Google Shape;2158;ge013acee29_0_45:notes">
            <a:extLst>
              <a:ext uri="{FF2B5EF4-FFF2-40B4-BE49-F238E27FC236}">
                <a16:creationId xmlns:a16="http://schemas.microsoft.com/office/drawing/2014/main" id="{39DCF917-4C25-D358-1CC6-6DC98C635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5474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e013acee2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2158" name="Google Shape;2158;ge013acee2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ge013acee29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2199" name="Google Shape;2199;ge013acee29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7">
          <a:extLst>
            <a:ext uri="{FF2B5EF4-FFF2-40B4-BE49-F238E27FC236}">
              <a16:creationId xmlns:a16="http://schemas.microsoft.com/office/drawing/2014/main" id="{6492B5EF-A7D7-4CDD-38B4-365022B95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ge013acee29_0_183:notes">
            <a:extLst>
              <a:ext uri="{FF2B5EF4-FFF2-40B4-BE49-F238E27FC236}">
                <a16:creationId xmlns:a16="http://schemas.microsoft.com/office/drawing/2014/main" id="{D09A7DDF-F54D-D8D3-6B40-2C5083FE3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2199" name="Google Shape;2199;ge013acee29_0_183:notes">
            <a:extLst>
              <a:ext uri="{FF2B5EF4-FFF2-40B4-BE49-F238E27FC236}">
                <a16:creationId xmlns:a16="http://schemas.microsoft.com/office/drawing/2014/main" id="{DE7CBB11-7ED9-1529-D0AC-E94BA33A6D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2323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2017" name="Google Shape;2017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5">
          <a:extLst>
            <a:ext uri="{FF2B5EF4-FFF2-40B4-BE49-F238E27FC236}">
              <a16:creationId xmlns:a16="http://schemas.microsoft.com/office/drawing/2014/main" id="{0584852D-84CF-ACAD-6317-1DC560C8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db0f9523dd_0_68:notes">
            <a:extLst>
              <a:ext uri="{FF2B5EF4-FFF2-40B4-BE49-F238E27FC236}">
                <a16:creationId xmlns:a16="http://schemas.microsoft.com/office/drawing/2014/main" id="{6F34B75C-4967-81E5-6618-29D72AFEAC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2017" name="Google Shape;2017;gdb0f9523dd_0_68:notes">
            <a:extLst>
              <a:ext uri="{FF2B5EF4-FFF2-40B4-BE49-F238E27FC236}">
                <a16:creationId xmlns:a16="http://schemas.microsoft.com/office/drawing/2014/main" id="{17BA12B2-2927-0999-6C7D-D0064C8D4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8329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E6FE-FDD4-D6F7-493C-8F5D00947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0C2D4-4E35-0265-763E-083E606E2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81C6F-A2CA-5F4B-1EB9-327D3B5B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4E37-8C7F-4F99-8E1D-F8C9D8F542E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E797B-F6E5-2663-221A-6B40D0F9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688CF-9746-75A9-FE41-6E3D8F4E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35E8-D8B5-4FA1-92F1-071094AA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122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63876-50E6-C79D-996A-DFACD8A23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A224C-D5D5-E760-5088-604B12E64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B8F08-464E-7BD6-2690-F6340DD7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4E37-8C7F-4F99-8E1D-F8C9D8F542E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95A0C-29C4-1EFB-0E20-A35AF172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4AFCB-7CAB-7752-D7E2-19C2F3CEC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35E8-D8B5-4FA1-92F1-071094AA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7056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43C5-4092-43B7-7A76-D5BDD2244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252FD-6126-90D6-BDA4-49D7C25EC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D5547-3B7D-402C-16A0-7B3788800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4E37-8C7F-4F99-8E1D-F8C9D8F542E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B38DE-290B-40E2-59E9-CB2BD732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CE731-0105-BDAC-0198-C8CF59B6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35E8-D8B5-4FA1-92F1-071094AA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3073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1778F-9113-016A-F5B7-64ECBE70A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CDBC-7798-79AF-A7E6-BDE5E5404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20EE6-F63C-94A5-EADE-0E2A27FD4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FD25D-6153-AFDB-CA0C-7110CB64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4E37-8C7F-4F99-8E1D-F8C9D8F542E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9CC6E-C8DB-4BF2-4F9A-41FA5741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70E1A-4313-A2AB-3C84-EEAF276E3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35E8-D8B5-4FA1-92F1-071094AA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4096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14811-8C9E-9E12-52A7-6D9E09D6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EECE3-C9DF-EFE2-B75F-9E5423C32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4DD62-3AFF-1908-CC40-9EAA612E0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1E10EE-8ACD-878F-B2EB-FF698E046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9CCF67-627D-5D85-D176-18A8D40F7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B14F7-DE13-085E-C4F9-87E57AA32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4E37-8C7F-4F99-8E1D-F8C9D8F542E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982DF2-CB0C-0A80-DB6A-F0CBDB5C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8D202-68AA-B578-A380-AF858D117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35E8-D8B5-4FA1-92F1-071094AA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5202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ADA3-BCEB-E152-A788-9F56C2D15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7712F-A5F0-05AB-5A29-3A44A1FE4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4E37-8C7F-4F99-8E1D-F8C9D8F542E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78C67-46E2-8492-2950-172C0ABE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1D18F-B5A3-7D1E-BADC-E79C8A2A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35E8-D8B5-4FA1-92F1-071094AA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2767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61E52A-36FF-DE8D-775F-DEB54372F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4E37-8C7F-4F99-8E1D-F8C9D8F542E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F5B73-9570-A8AF-5BF4-2CD699A2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E7715-C194-3CDE-C8F0-A8E686E8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35E8-D8B5-4FA1-92F1-071094AA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74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F2981-8814-74A5-4C7F-8DA3042E0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3F4E6-5BAF-1C7A-4B22-2689EDD26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A53BC-8622-919C-E683-9E5AAFD53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AD2D0-2338-1A81-CC1F-0BD19BA7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4E37-8C7F-4F99-8E1D-F8C9D8F542E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7705F-B5EE-CD00-9F98-0E6DDA29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87C26-2599-E515-F51A-7A97E3C7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35E8-D8B5-4FA1-92F1-071094AA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1639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FAA1-495C-FF04-60BC-19E86422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3A236B-71EA-D49D-7046-163A4B779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34861-D1AF-41FA-421E-04A86535A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79669-6B0B-23CC-133F-834E4BEE3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4E37-8C7F-4F99-8E1D-F8C9D8F542E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B91C9-0F47-B75E-51DE-89CDEE5E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2BABE-0427-C460-8A37-1A133327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35E8-D8B5-4FA1-92F1-071094AA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4521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1E9D-EC02-C72D-5B11-C409EFF31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89872-C928-095D-2A50-C81EE4FCD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83121-2E44-23B8-2FD6-E5B9BCE1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4E37-8C7F-4F99-8E1D-F8C9D8F542E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FABC7-59A4-B70E-DEC4-E2C338682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3ED23-DB19-8538-DB1B-236AC6015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35E8-D8B5-4FA1-92F1-071094AA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9325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2CB49-E074-AAC8-AAAD-F43586663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CEA79F-8C1F-6DE7-0DB5-0D2043C0B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8CEF7-D28B-E900-CA33-EA4A808F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4E37-8C7F-4F99-8E1D-F8C9D8F542E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4974D-2CA6-E795-7CB7-05BC6C50E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D3F6-4FD6-C0E7-8A90-C8A8B35A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35E8-D8B5-4FA1-92F1-071094AA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9247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2"/>
          </p:nvPr>
        </p:nvSpPr>
        <p:spPr>
          <a:xfrm>
            <a:off x="5669400" y="1497400"/>
            <a:ext cx="21945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1"/>
          </p:nvPr>
        </p:nvSpPr>
        <p:spPr>
          <a:xfrm>
            <a:off x="5669400" y="2228821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3" hasCustomPrompt="1"/>
          </p:nvPr>
        </p:nvSpPr>
        <p:spPr>
          <a:xfrm>
            <a:off x="4755000" y="1497414"/>
            <a:ext cx="731400" cy="731400"/>
          </a:xfrm>
          <a:prstGeom prst="rect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4"/>
          </p:nvPr>
        </p:nvSpPr>
        <p:spPr>
          <a:xfrm>
            <a:off x="5669280" y="3143343"/>
            <a:ext cx="21945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5"/>
          </p:nvPr>
        </p:nvSpPr>
        <p:spPr>
          <a:xfrm>
            <a:off x="5669280" y="3874740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6" hasCustomPrompt="1"/>
          </p:nvPr>
        </p:nvSpPr>
        <p:spPr>
          <a:xfrm>
            <a:off x="4755000" y="3143345"/>
            <a:ext cx="731400" cy="731400"/>
          </a:xfrm>
          <a:prstGeom prst="rect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 txBox="1">
            <a:spLocks noGrp="1"/>
          </p:cNvSpPr>
          <p:nvPr>
            <p:ph type="title" idx="7"/>
          </p:nvPr>
        </p:nvSpPr>
        <p:spPr>
          <a:xfrm>
            <a:off x="2194507" y="3141100"/>
            <a:ext cx="21945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8"/>
          </p:nvPr>
        </p:nvSpPr>
        <p:spPr>
          <a:xfrm>
            <a:off x="2194507" y="3872521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9" hasCustomPrompt="1"/>
          </p:nvPr>
        </p:nvSpPr>
        <p:spPr>
          <a:xfrm>
            <a:off x="1279975" y="3141101"/>
            <a:ext cx="731400" cy="731400"/>
          </a:xfrm>
          <a:prstGeom prst="rect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13"/>
          </p:nvPr>
        </p:nvSpPr>
        <p:spPr>
          <a:xfrm>
            <a:off x="2194507" y="1497400"/>
            <a:ext cx="21945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14"/>
          </p:nvPr>
        </p:nvSpPr>
        <p:spPr>
          <a:xfrm>
            <a:off x="2194507" y="2228821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15" hasCustomPrompt="1"/>
          </p:nvPr>
        </p:nvSpPr>
        <p:spPr>
          <a:xfrm>
            <a:off x="1279975" y="1497401"/>
            <a:ext cx="731400" cy="731400"/>
          </a:xfrm>
          <a:prstGeom prst="rect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099393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"/>
          <p:cNvSpPr txBox="1">
            <a:spLocks noGrp="1"/>
          </p:cNvSpPr>
          <p:nvPr>
            <p:ph type="title"/>
          </p:nvPr>
        </p:nvSpPr>
        <p:spPr>
          <a:xfrm>
            <a:off x="1444500" y="1588875"/>
            <a:ext cx="294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16"/>
          <p:cNvSpPr txBox="1">
            <a:spLocks noGrp="1"/>
          </p:cNvSpPr>
          <p:nvPr>
            <p:ph type="title" idx="2"/>
          </p:nvPr>
        </p:nvSpPr>
        <p:spPr>
          <a:xfrm>
            <a:off x="5486392" y="1588875"/>
            <a:ext cx="294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16"/>
          <p:cNvSpPr txBox="1">
            <a:spLocks noGrp="1"/>
          </p:cNvSpPr>
          <p:nvPr>
            <p:ph type="subTitle" idx="1"/>
          </p:nvPr>
        </p:nvSpPr>
        <p:spPr>
          <a:xfrm>
            <a:off x="1444500" y="2046075"/>
            <a:ext cx="29445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16"/>
          <p:cNvSpPr txBox="1">
            <a:spLocks noGrp="1"/>
          </p:cNvSpPr>
          <p:nvPr>
            <p:ph type="subTitle" idx="3"/>
          </p:nvPr>
        </p:nvSpPr>
        <p:spPr>
          <a:xfrm>
            <a:off x="5486403" y="2046075"/>
            <a:ext cx="29445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16"/>
          <p:cNvSpPr txBox="1">
            <a:spLocks noGrp="1"/>
          </p:cNvSpPr>
          <p:nvPr>
            <p:ph type="title" idx="4"/>
          </p:nvPr>
        </p:nvSpPr>
        <p:spPr>
          <a:xfrm>
            <a:off x="1444500" y="3143366"/>
            <a:ext cx="294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16"/>
          <p:cNvSpPr txBox="1">
            <a:spLocks noGrp="1"/>
          </p:cNvSpPr>
          <p:nvPr>
            <p:ph type="title" idx="5"/>
          </p:nvPr>
        </p:nvSpPr>
        <p:spPr>
          <a:xfrm>
            <a:off x="5486405" y="3143366"/>
            <a:ext cx="294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6"/>
          <p:cNvSpPr txBox="1">
            <a:spLocks noGrp="1"/>
          </p:cNvSpPr>
          <p:nvPr>
            <p:ph type="subTitle" idx="6"/>
          </p:nvPr>
        </p:nvSpPr>
        <p:spPr>
          <a:xfrm>
            <a:off x="1444500" y="3600574"/>
            <a:ext cx="29445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6"/>
          <p:cNvSpPr txBox="1">
            <a:spLocks noGrp="1"/>
          </p:cNvSpPr>
          <p:nvPr>
            <p:ph type="subTitle" idx="7"/>
          </p:nvPr>
        </p:nvSpPr>
        <p:spPr>
          <a:xfrm>
            <a:off x="5486390" y="3600574"/>
            <a:ext cx="29445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6"/>
          <p:cNvSpPr txBox="1">
            <a:spLocks noGrp="1"/>
          </p:cNvSpPr>
          <p:nvPr>
            <p:ph type="title" idx="8"/>
          </p:nvPr>
        </p:nvSpPr>
        <p:spPr>
          <a:xfrm>
            <a:off x="713100" y="539400"/>
            <a:ext cx="77178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5946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735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>
            <a:off x="3407550" y="1108725"/>
            <a:ext cx="5023500" cy="13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subTitle" idx="1"/>
          </p:nvPr>
        </p:nvSpPr>
        <p:spPr>
          <a:xfrm>
            <a:off x="3407550" y="2846177"/>
            <a:ext cx="5023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2589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42CCB-4AFA-83F0-D7D6-AB24EB21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999BD-CB24-B114-D4A7-92835B171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DD4B3-5290-70AC-CA8D-6E0B382091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E4E37-8C7F-4F99-8E1D-F8C9D8F542E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D45EF-9B55-E79A-1E10-B07AF99C46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3A421-A789-58B0-7759-7C100230E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035E8-D8B5-4FA1-92F1-071094AA9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7" r:id="rId14"/>
    <p:sldLayoutId id="2147483689" r:id="rId1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1465" y="1553823"/>
            <a:ext cx="8564095" cy="563085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Cloud-Based Identity and Access Management System with Federated Authentication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5" descr="A blue and white logo  Description automatically generated">
            <a:extLst>
              <a:ext uri="{FF2B5EF4-FFF2-40B4-BE49-F238E27FC236}">
                <a16:creationId xmlns:a16="http://schemas.microsoft.com/office/drawing/2014/main" id="{D643C59B-0548-DB0E-82EB-71A5D971B4B8}"/>
              </a:ext>
            </a:extLst>
          </p:cNvPr>
          <p:cNvSpPr/>
          <p:nvPr/>
        </p:nvSpPr>
        <p:spPr>
          <a:xfrm>
            <a:off x="1150525" y="255630"/>
            <a:ext cx="6842950" cy="891168"/>
          </a:xfrm>
          <a:custGeom>
            <a:avLst/>
            <a:gdLst/>
            <a:ahLst/>
            <a:cxnLst/>
            <a:rect l="l" t="t" r="r" b="b"/>
            <a:pathLst>
              <a:path w="8579203" h="1100998">
                <a:moveTo>
                  <a:pt x="0" y="0"/>
                </a:moveTo>
                <a:lnTo>
                  <a:pt x="8579202" y="0"/>
                </a:lnTo>
                <a:lnTo>
                  <a:pt x="8579202" y="1100998"/>
                </a:lnTo>
                <a:lnTo>
                  <a:pt x="0" y="110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013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85A3F-CEDD-7BE9-DE77-21A5BBCD6B98}"/>
              </a:ext>
            </a:extLst>
          </p:cNvPr>
          <p:cNvSpPr txBox="1"/>
          <p:nvPr/>
        </p:nvSpPr>
        <p:spPr>
          <a:xfrm>
            <a:off x="659675" y="2247900"/>
            <a:ext cx="769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CSA1522 - CLOUD COMPUTING AND BIG DATA ANALYTICS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B5EBE-570A-BA57-00CF-FB3CFC1AEF80}"/>
              </a:ext>
            </a:extLst>
          </p:cNvPr>
          <p:cNvSpPr txBox="1"/>
          <p:nvPr/>
        </p:nvSpPr>
        <p:spPr>
          <a:xfrm>
            <a:off x="5864344" y="2835656"/>
            <a:ext cx="4572000" cy="117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n-NO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 lvl="1">
              <a:spcBef>
                <a:spcPts val="450"/>
              </a:spcBef>
            </a:pPr>
            <a:r>
              <a:rPr lang="nn-N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DHILIBAN M (19241166)</a:t>
            </a:r>
          </a:p>
          <a:p>
            <a:pPr lvl="1">
              <a:spcBef>
                <a:spcPts val="450"/>
              </a:spcBef>
            </a:pPr>
            <a:r>
              <a:rPr lang="nn-N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MADHAN R(192324256)</a:t>
            </a:r>
            <a:br>
              <a:rPr lang="nn-N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nn-N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BUVANESH Y(192372367)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2021F-450E-1C2D-EDE3-6466F88C9046}"/>
              </a:ext>
            </a:extLst>
          </p:cNvPr>
          <p:cNvSpPr txBox="1"/>
          <p:nvPr/>
        </p:nvSpPr>
        <p:spPr>
          <a:xfrm>
            <a:off x="762802" y="3097639"/>
            <a:ext cx="5316794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DR.P. RAJARAM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27"/>
          <p:cNvSpPr txBox="1">
            <a:spLocks noGrp="1"/>
          </p:cNvSpPr>
          <p:nvPr>
            <p:ph type="title"/>
          </p:nvPr>
        </p:nvSpPr>
        <p:spPr>
          <a:xfrm>
            <a:off x="713100" y="354403"/>
            <a:ext cx="77178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ea typeface="RoBOTO SLAB" panose="020F0502020204030204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E6CC2E-A7CF-C0A3-45AF-9FF98372702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0A9654-8FAE-9FEE-9DBE-9F39C848710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1" y="217303"/>
            <a:ext cx="760057" cy="7314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890E4F5-F234-49CD-B20A-DEAAD377A0DC}"/>
              </a:ext>
            </a:extLst>
          </p:cNvPr>
          <p:cNvSpPr txBox="1"/>
          <p:nvPr/>
        </p:nvSpPr>
        <p:spPr>
          <a:xfrm>
            <a:off x="981339" y="1180609"/>
            <a:ext cx="7181322" cy="3608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organizations face increasing challenges in managing user identities securely across multiple cloud applications.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authentication using standards like OAuth2 and SAML enables seamless identity federation across diverse platforms.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Sign‑On provides a unified login experience that reduces user friction, improves productivity, and strengthens security.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policy enforcement with role‑based access control and audit logging ensures compliance and accountability.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deliver a cloud‑based Identity and Access Management solution that integrates credential management, federated SSO, and policy enforcement for secure enterprise adoption.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9">
          <a:extLst>
            <a:ext uri="{FF2B5EF4-FFF2-40B4-BE49-F238E27FC236}">
              <a16:creationId xmlns:a16="http://schemas.microsoft.com/office/drawing/2014/main" id="{BE84CCF4-3E37-7D74-62C4-042F853F1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31">
            <a:extLst>
              <a:ext uri="{FF2B5EF4-FFF2-40B4-BE49-F238E27FC236}">
                <a16:creationId xmlns:a16="http://schemas.microsoft.com/office/drawing/2014/main" id="{A71F64E3-78E0-8A8D-C086-41F0CBCCDCF3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8EE2EB-413D-9B92-A067-6DB09A3EC85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4D2607-7C6B-39E9-3BE1-3DC6E6E5AAF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185" y="173699"/>
            <a:ext cx="760057" cy="73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325ED53-B637-417E-459F-379E19AB193F}"/>
              </a:ext>
            </a:extLst>
          </p:cNvPr>
          <p:cNvSpPr txBox="1"/>
          <p:nvPr/>
        </p:nvSpPr>
        <p:spPr>
          <a:xfrm>
            <a:off x="1238202" y="1499401"/>
            <a:ext cx="6482634" cy="26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secure cloud‑based Identity and Access Management (IAM) system supporting federated authentication.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seamless Single Sign‑On (SSO) across multiple cloud‑hosted applications using OAuth2 and SAML standards.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user identity and credential management with platforms like </a:t>
            </a:r>
            <a:r>
              <a:rPr lang="en-IN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Firebase Auth for scalability and reliability.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enforce centralized access policies through Role‑Based Access Control (RBAC) and maintain comprehensive audit logs.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594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31"/>
          <p:cNvSpPr txBox="1">
            <a:spLocks noGrp="1"/>
          </p:cNvSpPr>
          <p:nvPr>
            <p:ph type="title" idx="8"/>
          </p:nvPr>
        </p:nvSpPr>
        <p:spPr>
          <a:xfrm>
            <a:off x="713100" y="386539"/>
            <a:ext cx="77178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EE2EA9-973A-1BB4-7BFD-0CAA8946BD6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443586-3AF0-0579-2005-25F32AA6A48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1" y="217303"/>
            <a:ext cx="760057" cy="7314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4" name="TextBox 2143">
            <a:extLst>
              <a:ext uri="{FF2B5EF4-FFF2-40B4-BE49-F238E27FC236}">
                <a16:creationId xmlns:a16="http://schemas.microsoft.com/office/drawing/2014/main" id="{9A56ACDE-9042-A0C3-B045-017F1E510232}"/>
              </a:ext>
            </a:extLst>
          </p:cNvPr>
          <p:cNvSpPr txBox="1"/>
          <p:nvPr/>
        </p:nvSpPr>
        <p:spPr>
          <a:xfrm>
            <a:off x="1201412" y="1398402"/>
            <a:ext cx="7609516" cy="32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currently rely on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IAM solutions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provide user credential storage and authentication but lack advanced federation features.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often implement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Single Sign‑On (SSO)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limited applications, without true cross‑platform federation across multiple cloud services.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is usually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role‑based but decentralized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policies managed separately in each application, leading to inconsistencies and administrative overhead.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logging and compliance tracking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often minimal, making it difficult to ensure accountability and meet regulatory requirements.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solutions may not fully integrate modern standards like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OAuth2 and SAML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resulting in reduced scalability, interoperability issues, and higher security risks.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4F052-CA6C-44C8-A844-154BB68D8C38}"/>
              </a:ext>
            </a:extLst>
          </p:cNvPr>
          <p:cNvSpPr txBox="1"/>
          <p:nvPr/>
        </p:nvSpPr>
        <p:spPr>
          <a:xfrm>
            <a:off x="2443141" y="332189"/>
            <a:ext cx="4176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16F2D8-D8E8-5F60-D040-B9C0C2CF2FD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648" y="112800"/>
            <a:ext cx="672062" cy="731400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E9292C-2AF6-2B01-E124-80FF7D8BF1B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501" y="162152"/>
            <a:ext cx="760057" cy="73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EC5A40-F3ED-F3A0-B880-4CA47F762E32}"/>
              </a:ext>
            </a:extLst>
          </p:cNvPr>
          <p:cNvSpPr txBox="1"/>
          <p:nvPr/>
        </p:nvSpPr>
        <p:spPr>
          <a:xfrm>
            <a:off x="1180160" y="1214281"/>
            <a:ext cx="6973812" cy="3613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A cloud‑based Identity and Access Management (IAM) platform that integrates OAuth2 and SAML protocols to provide secure federated authentication across multiple applications.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Centralized user identity and credential management using </a:t>
            </a:r>
            <a:r>
              <a:rPr lang="en-IN" sz="1400" dirty="0" err="1"/>
              <a:t>Keycloak</a:t>
            </a:r>
            <a:r>
              <a:rPr lang="en-IN" sz="1400" dirty="0"/>
              <a:t> or Firebase Auth, ensuring scalability, reliability, and simplified administration.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Seamless Single Sign‑On (SSO) experience allowing users to authenticate once and access multiple federated cloud services without repeated logins.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Role‑Based Access Control (RBAC) with centralized policy enforcement to ensure consistent authorization and compliance across all applications.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Comprehensive audit logging and monitoring to track authentication events, policy enforcement actions, and system activity for accountability and regulatory compliance.</a:t>
            </a:r>
          </a:p>
        </p:txBody>
      </p:sp>
    </p:spTree>
    <p:extLst>
      <p:ext uri="{BB962C8B-B14F-4D97-AF65-F5344CB8AC3E}">
        <p14:creationId xmlns:p14="http://schemas.microsoft.com/office/powerpoint/2010/main" val="16192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E50FF690-268B-0730-4119-A5538977AD5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1983EB8-3F64-1157-9F26-C980BD3F9CD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1" y="217303"/>
            <a:ext cx="760057" cy="7314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EC6A3D-B17B-AFA6-DF8C-0211EE64CFF3}"/>
              </a:ext>
            </a:extLst>
          </p:cNvPr>
          <p:cNvSpPr txBox="1"/>
          <p:nvPr/>
        </p:nvSpPr>
        <p:spPr>
          <a:xfrm>
            <a:off x="1161906" y="1161907"/>
            <a:ext cx="7136445" cy="3608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 an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 Life Cycle (SDLC)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approach, breaking the project into iterative sprints for design, implementation, testing, and evaluation.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/Firebase Auth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identity and credential management, integrating OAuth2 and SAML protocols to enable federated authentication.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Single Sign‑On (SSO)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configuring trust relationships between cloud‑hosted applications and the IAM system.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Role‑Based Access Control (RBAC)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centralized policy enforcement, ensuring secure authorization across all federated services.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evaluation and testing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defined metrics such as authentication success rate, login latency, token validation accuracy, and audit log completeness.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0">
          <a:extLst>
            <a:ext uri="{FF2B5EF4-FFF2-40B4-BE49-F238E27FC236}">
              <a16:creationId xmlns:a16="http://schemas.microsoft.com/office/drawing/2014/main" id="{F18946D3-A85C-61E5-1E2A-6693ED86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32">
            <a:extLst>
              <a:ext uri="{FF2B5EF4-FFF2-40B4-BE49-F238E27FC236}">
                <a16:creationId xmlns:a16="http://schemas.microsoft.com/office/drawing/2014/main" id="{BE9B6DE7-7F62-136C-C77E-DCCEC9F233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B4F224E9-3E16-F98A-D5CA-B5EDC8D8B82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AFAC2D3-0EC7-53CC-99EE-F903B39F650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1" y="217303"/>
            <a:ext cx="760057" cy="73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A843D6-8DC0-5A82-5327-4E6EBEE214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09" b="10633"/>
          <a:stretch>
            <a:fillRect/>
          </a:stretch>
        </p:blipFill>
        <p:spPr>
          <a:xfrm>
            <a:off x="1023700" y="1005245"/>
            <a:ext cx="7096600" cy="380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70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29"/>
          <p:cNvSpPr txBox="1">
            <a:spLocks noGrp="1"/>
          </p:cNvSpPr>
          <p:nvPr>
            <p:ph type="title"/>
          </p:nvPr>
        </p:nvSpPr>
        <p:spPr>
          <a:xfrm>
            <a:off x="1347363" y="281883"/>
            <a:ext cx="6449273" cy="10038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Aft>
                <a:spcPts val="1600"/>
              </a:spcAft>
              <a:buSzPts val="11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Identity &amp; Credential Management</a:t>
            </a:r>
            <a:endParaRPr lang="en-US" sz="3200" dirty="0">
              <a:latin typeface="Times New Roman" panose="02020603050405020304" pitchFamily="18" charset="0"/>
              <a:ea typeface="RoBOTO SLAB" pitchFamily="2" charset="0"/>
              <a:cs typeface="Times New Roman" panose="02020603050405020304" pitchFamily="18" charset="0"/>
            </a:endParaRPr>
          </a:p>
        </p:txBody>
      </p:sp>
      <p:pic>
        <p:nvPicPr>
          <p:cNvPr id="1989" name="Picture 1988">
            <a:extLst>
              <a:ext uri="{FF2B5EF4-FFF2-40B4-BE49-F238E27FC236}">
                <a16:creationId xmlns:a16="http://schemas.microsoft.com/office/drawing/2014/main" id="{AD661012-7AA6-E2F1-4074-CF45EE2ED3D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1990" name="Picture 1989">
            <a:extLst>
              <a:ext uri="{FF2B5EF4-FFF2-40B4-BE49-F238E27FC236}">
                <a16:creationId xmlns:a16="http://schemas.microsoft.com/office/drawing/2014/main" id="{1AB73551-3AB3-4CD7-22CC-F854C5D2066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1" y="217303"/>
            <a:ext cx="760057" cy="7314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D3B26E-AEFE-146E-42BD-6B28591143A6}"/>
              </a:ext>
            </a:extLst>
          </p:cNvPr>
          <p:cNvSpPr txBox="1"/>
          <p:nvPr/>
        </p:nvSpPr>
        <p:spPr>
          <a:xfrm>
            <a:off x="1512368" y="1553793"/>
            <a:ext cx="5479699" cy="23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registration and credential storage in a cloud database.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Firebase Auth for managing identities and issuing tokens.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OAuth2 and SAML protocols for federated authentication.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scalability and reliability for large user bases.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centralized identity records to simplify administration.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8">
          <a:extLst>
            <a:ext uri="{FF2B5EF4-FFF2-40B4-BE49-F238E27FC236}">
              <a16:creationId xmlns:a16="http://schemas.microsoft.com/office/drawing/2014/main" id="{D0CD6E55-EAA0-4B22-4AFF-209928998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29">
            <a:extLst>
              <a:ext uri="{FF2B5EF4-FFF2-40B4-BE49-F238E27FC236}">
                <a16:creationId xmlns:a16="http://schemas.microsoft.com/office/drawing/2014/main" id="{0B50675F-8960-1D6B-CA9F-3FAF01ED96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7363" y="281883"/>
            <a:ext cx="6449273" cy="10038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Aft>
                <a:spcPts val="1600"/>
              </a:spcAft>
              <a:buSzPts val="11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OUTPUT</a:t>
            </a:r>
            <a:endParaRPr lang="en-US" sz="3200" dirty="0">
              <a:latin typeface="Times New Roman" panose="02020603050405020304" pitchFamily="18" charset="0"/>
              <a:ea typeface="RoBOTO SLAB" pitchFamily="2" charset="0"/>
              <a:cs typeface="Times New Roman" panose="02020603050405020304" pitchFamily="18" charset="0"/>
            </a:endParaRPr>
          </a:p>
        </p:txBody>
      </p:sp>
      <p:pic>
        <p:nvPicPr>
          <p:cNvPr id="1989" name="Picture 1988">
            <a:extLst>
              <a:ext uri="{FF2B5EF4-FFF2-40B4-BE49-F238E27FC236}">
                <a16:creationId xmlns:a16="http://schemas.microsoft.com/office/drawing/2014/main" id="{AE3BCFCD-D0F1-A565-20C4-A748BC26680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1990" name="Picture 1989">
            <a:extLst>
              <a:ext uri="{FF2B5EF4-FFF2-40B4-BE49-F238E27FC236}">
                <a16:creationId xmlns:a16="http://schemas.microsoft.com/office/drawing/2014/main" id="{0A3FB120-3AA5-97EA-4B53-027B899B90B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1" y="217303"/>
            <a:ext cx="760057" cy="73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E20823-3E8D-AE3D-352B-AB082CE8A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180" y="1422373"/>
            <a:ext cx="6976691" cy="317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8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20;p29">
            <a:extLst>
              <a:ext uri="{FF2B5EF4-FFF2-40B4-BE49-F238E27FC236}">
                <a16:creationId xmlns:a16="http://schemas.microsoft.com/office/drawing/2014/main" id="{F440448F-4589-C66F-2CFA-11660389A86B}"/>
              </a:ext>
            </a:extLst>
          </p:cNvPr>
          <p:cNvSpPr txBox="1">
            <a:spLocks/>
          </p:cNvSpPr>
          <p:nvPr/>
        </p:nvSpPr>
        <p:spPr>
          <a:xfrm>
            <a:off x="1412591" y="330009"/>
            <a:ext cx="6449273" cy="100389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spcAft>
                <a:spcPts val="1600"/>
              </a:spcAft>
              <a:buSzPts val="11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Federated Single Sign‑On (SSO)</a:t>
            </a:r>
            <a:endParaRPr lang="en-US" sz="3200" dirty="0">
              <a:latin typeface="Times New Roman" panose="02020603050405020304" pitchFamily="18" charset="0"/>
              <a:ea typeface="RoBOTO SLAB" pitchFamily="2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092E0A-3385-90CB-345B-DF72BB50812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AB0DA2-005E-0F54-3B76-5BFBF66ED16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1" y="217303"/>
            <a:ext cx="760057" cy="7314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F08AD0-A72C-6F96-62FA-730587B9D9B0}"/>
              </a:ext>
            </a:extLst>
          </p:cNvPr>
          <p:cNvSpPr txBox="1"/>
          <p:nvPr/>
        </p:nvSpPr>
        <p:spPr>
          <a:xfrm>
            <a:off x="1845901" y="1567543"/>
            <a:ext cx="5314694" cy="23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authenticate once and access multiple cloud applications seamlessly.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 trust relationships between federated services using OAuth2/SAML.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login friction and improves user productivity.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session tokens across applications for consistent access.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unified login experience across diverse platforms.</a:t>
            </a:r>
          </a:p>
        </p:txBody>
      </p:sp>
    </p:spTree>
    <p:extLst>
      <p:ext uri="{BB962C8B-B14F-4D97-AF65-F5344CB8AC3E}">
        <p14:creationId xmlns:p14="http://schemas.microsoft.com/office/powerpoint/2010/main" val="3457839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6AD00-268F-6AF0-A4D1-3B1EDF75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20;p29">
            <a:extLst>
              <a:ext uri="{FF2B5EF4-FFF2-40B4-BE49-F238E27FC236}">
                <a16:creationId xmlns:a16="http://schemas.microsoft.com/office/drawing/2014/main" id="{80480E77-153D-5191-EC24-4343F8E905CB}"/>
              </a:ext>
            </a:extLst>
          </p:cNvPr>
          <p:cNvSpPr txBox="1">
            <a:spLocks/>
          </p:cNvSpPr>
          <p:nvPr/>
        </p:nvSpPr>
        <p:spPr>
          <a:xfrm>
            <a:off x="1412591" y="330009"/>
            <a:ext cx="6449273" cy="100389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spcAft>
                <a:spcPts val="1600"/>
              </a:spcAft>
              <a:buSzPts val="11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OUTPUT</a:t>
            </a:r>
            <a:endParaRPr lang="en-US" sz="3200" dirty="0">
              <a:latin typeface="Times New Roman" panose="02020603050405020304" pitchFamily="18" charset="0"/>
              <a:ea typeface="RoBOTO SLAB" pitchFamily="2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E54A2-073E-DECA-0964-392373F393A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C0AB1-E1C0-429E-D380-42E2B226EB5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1" y="217303"/>
            <a:ext cx="760057" cy="73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ACEF09-2FDE-BD9A-AB2D-0B605EB6F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91" y="1349980"/>
            <a:ext cx="8050871" cy="357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32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020;p29">
            <a:extLst>
              <a:ext uri="{FF2B5EF4-FFF2-40B4-BE49-F238E27FC236}">
                <a16:creationId xmlns:a16="http://schemas.microsoft.com/office/drawing/2014/main" id="{985751FE-415D-434E-8F6C-6702CA5656C7}"/>
              </a:ext>
            </a:extLst>
          </p:cNvPr>
          <p:cNvSpPr txBox="1">
            <a:spLocks/>
          </p:cNvSpPr>
          <p:nvPr/>
        </p:nvSpPr>
        <p:spPr>
          <a:xfrm>
            <a:off x="1412591" y="330009"/>
            <a:ext cx="6449273" cy="100389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spcAft>
                <a:spcPts val="1600"/>
              </a:spcAft>
              <a:buSzPts val="1100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Access Policy Enforcement &amp; Audit Logging</a:t>
            </a:r>
            <a:endParaRPr lang="en-US" sz="3200" b="1" dirty="0">
              <a:latin typeface="Times New Roman" panose="02020603050405020304" pitchFamily="18" charset="0"/>
              <a:ea typeface="RoBOTO SLAB" pitchFamily="2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31981A-4DF8-2798-1E73-F23672E6362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C51CB6-F29F-150B-FEF7-7F9535A61A2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1" y="217303"/>
            <a:ext cx="760057" cy="73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89E882-170F-258C-68F9-75072E839BA3}"/>
              </a:ext>
            </a:extLst>
          </p:cNvPr>
          <p:cNvSpPr txBox="1"/>
          <p:nvPr/>
        </p:nvSpPr>
        <p:spPr>
          <a:xfrm>
            <a:off x="1412591" y="1677546"/>
            <a:ext cx="5600101" cy="23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Role‑Based Access Control (RBAC) for centralized authorization.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Enforces consistent security policies across all federated applications.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authentication and access events in detailed audit logs.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compliance monitoring and accountability for organizations.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insights into system activity for performance and security evaluation.</a:t>
            </a:r>
          </a:p>
        </p:txBody>
      </p:sp>
    </p:spTree>
    <p:extLst>
      <p:ext uri="{BB962C8B-B14F-4D97-AF65-F5344CB8AC3E}">
        <p14:creationId xmlns:p14="http://schemas.microsoft.com/office/powerpoint/2010/main" val="3799724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F72B-C3A1-9485-331D-1D161A83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20;p29">
            <a:extLst>
              <a:ext uri="{FF2B5EF4-FFF2-40B4-BE49-F238E27FC236}">
                <a16:creationId xmlns:a16="http://schemas.microsoft.com/office/drawing/2014/main" id="{C89F8079-AEE8-484F-2299-A9E85C346762}"/>
              </a:ext>
            </a:extLst>
          </p:cNvPr>
          <p:cNvSpPr txBox="1">
            <a:spLocks/>
          </p:cNvSpPr>
          <p:nvPr/>
        </p:nvSpPr>
        <p:spPr>
          <a:xfrm>
            <a:off x="1412591" y="330009"/>
            <a:ext cx="6449273" cy="100389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spcAft>
                <a:spcPts val="1600"/>
              </a:spcAft>
              <a:buSzPts val="11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OUTPUT</a:t>
            </a:r>
            <a:endParaRPr lang="en-US" sz="3200" dirty="0">
              <a:latin typeface="Times New Roman" panose="02020603050405020304" pitchFamily="18" charset="0"/>
              <a:ea typeface="RoBOTO SLAB" pitchFamily="2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C647AB-F4D3-1871-59F3-0A1802B8021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A3BEA3-76B2-5D39-D774-2DD17C42F1A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1" y="217303"/>
            <a:ext cx="760057" cy="73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CE136D-89B1-3BB1-CB1F-C16A3DF3C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80" y="1176753"/>
            <a:ext cx="7927494" cy="363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29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020;p29">
            <a:extLst>
              <a:ext uri="{FF2B5EF4-FFF2-40B4-BE49-F238E27FC236}">
                <a16:creationId xmlns:a16="http://schemas.microsoft.com/office/drawing/2014/main" id="{9EF15E3E-3D3E-DFBD-7074-BD39FEC6079C}"/>
              </a:ext>
            </a:extLst>
          </p:cNvPr>
          <p:cNvSpPr txBox="1">
            <a:spLocks/>
          </p:cNvSpPr>
          <p:nvPr/>
        </p:nvSpPr>
        <p:spPr>
          <a:xfrm>
            <a:off x="1412591" y="330009"/>
            <a:ext cx="6449273" cy="100389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spcAft>
                <a:spcPts val="1600"/>
              </a:spcAft>
              <a:buSzPts val="1100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sz="3200" b="1" dirty="0">
              <a:latin typeface="Times New Roman" panose="02020603050405020304" pitchFamily="18" charset="0"/>
              <a:ea typeface="RoBOTO SLAB" pitchFamily="2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899D33-FFCA-A425-F8ED-50D939D74E3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8AF36A-03F9-1783-709C-D9869B65AF0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1" y="217303"/>
            <a:ext cx="760057" cy="73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FCDBAF-4E2D-EB68-1615-89289C11145A}"/>
              </a:ext>
            </a:extLst>
          </p:cNvPr>
          <p:cNvSpPr txBox="1"/>
          <p:nvPr/>
        </p:nvSpPr>
        <p:spPr>
          <a:xfrm>
            <a:off x="1037980" y="1161907"/>
            <a:ext cx="7198496" cy="32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successfully integrates federated authentication using OAuth2 and SAML to provide secure identity management.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credential handling with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/Firebase Auth ensures scalability, reliability, and simplified administration.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Sign‑On enhances user experience by reducing login friction and enabling seamless access across multiple cloud applications.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Role‑Based Access Control and audit logging strengthen compliance, accountability, and overall system security.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a robust, cloud‑based IAM solution that addresses existing limitations and delivers a secure, efficient, and scalable framework for enterprise adoption.</a:t>
            </a:r>
          </a:p>
        </p:txBody>
      </p:sp>
    </p:spTree>
    <p:extLst>
      <p:ext uri="{BB962C8B-B14F-4D97-AF65-F5344CB8AC3E}">
        <p14:creationId xmlns:p14="http://schemas.microsoft.com/office/powerpoint/2010/main" val="1532682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13F0B-AF5F-29E0-598B-25C453073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020;p29">
            <a:extLst>
              <a:ext uri="{FF2B5EF4-FFF2-40B4-BE49-F238E27FC236}">
                <a16:creationId xmlns:a16="http://schemas.microsoft.com/office/drawing/2014/main" id="{8CCE8DF6-1674-C426-0C4C-50DE5AE16199}"/>
              </a:ext>
            </a:extLst>
          </p:cNvPr>
          <p:cNvSpPr txBox="1">
            <a:spLocks/>
          </p:cNvSpPr>
          <p:nvPr/>
        </p:nvSpPr>
        <p:spPr>
          <a:xfrm>
            <a:off x="1412591" y="330009"/>
            <a:ext cx="6449273" cy="100389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spcAft>
                <a:spcPts val="1600"/>
              </a:spcAft>
              <a:buSzPts val="1100"/>
            </a:pPr>
            <a:r>
              <a:rPr lang="en-US" sz="3200" b="1" dirty="0">
                <a:latin typeface="Times New Roman" panose="02020603050405020304" pitchFamily="18" charset="0"/>
                <a:ea typeface="RoBOTO SLAB" pitchFamily="2" charset="0"/>
                <a:cs typeface="Times New Roman" panose="02020603050405020304" pitchFamily="18" charset="0"/>
              </a:rPr>
              <a:t>REFERNCES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B2791A-50D0-83C8-BBF0-A1B63CB79B1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82" y="217303"/>
            <a:ext cx="672062" cy="73140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90AFE0-5F71-E3FC-B5E5-88E09581D4E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871" y="217303"/>
            <a:ext cx="760057" cy="73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453994-7622-67CF-ACB5-AA56506FEA80}"/>
              </a:ext>
            </a:extLst>
          </p:cNvPr>
          <p:cNvSpPr txBox="1"/>
          <p:nvPr/>
        </p:nvSpPr>
        <p:spPr>
          <a:xfrm>
            <a:off x="1037980" y="1161907"/>
            <a:ext cx="6693429" cy="3106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Lodderstedt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Bradley, A.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Labunets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D. Fett, “RFC 9700: Best Current Practice for OAuth 2.0 Security,” Internet Engineering Task Force (IETF), Jan. 2025.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10.17487/RFC9700.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Fett, B. Campbell, J. Bradley, T.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Lodderstedt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Jones, and D. Waite, “RFC 9449: OAuth 2.0 Demonstrating Proof of Possession 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DPoP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),” Internet Engineering Task Force (IETF), Sep. 2023.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10.17487/RFC9449.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Lodderstedt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Richer, and B. Campbell, “RFC 9396: OAuth 2.0 Rich Authorization Requests,” Internet Engineering Task Force (IETF), May 2023.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10.17487/RFC9396.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Hedberg, M. B. Jones, A. Å. Solberg, J. Bradley, G. De Marco, and V.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Dzhuvinov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“OpenID Federation 1.0,” OpenID Foundation, Feb. 2026.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Sakimura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Bradley, M. Jones, B. de Medeiros, and M. Mortimore, “OpenID Connect Core 1.0 incorporating errata set 2,” OpenID Foundation, Dec. 2023.</a:t>
            </a:r>
          </a:p>
        </p:txBody>
      </p:sp>
    </p:spTree>
    <p:extLst>
      <p:ext uri="{BB962C8B-B14F-4D97-AF65-F5344CB8AC3E}">
        <p14:creationId xmlns:p14="http://schemas.microsoft.com/office/powerpoint/2010/main" val="1049291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3097;p44">
            <a:extLst>
              <a:ext uri="{FF2B5EF4-FFF2-40B4-BE49-F238E27FC236}">
                <a16:creationId xmlns:a16="http://schemas.microsoft.com/office/drawing/2014/main" id="{ABD151D1-707B-612E-7654-B2DE23C9E84D}"/>
              </a:ext>
            </a:extLst>
          </p:cNvPr>
          <p:cNvSpPr txBox="1">
            <a:spLocks/>
          </p:cNvSpPr>
          <p:nvPr/>
        </p:nvSpPr>
        <p:spPr>
          <a:xfrm>
            <a:off x="327839" y="1580628"/>
            <a:ext cx="50226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8000" dirty="0">
                <a:solidFill>
                  <a:schemeClr val="tx1"/>
                </a:solidFill>
                <a:latin typeface="Berlin Sans FB" panose="020E0602020502020306" pitchFamily="34" charset="0"/>
              </a:rPr>
              <a:t>Thanks!!!</a:t>
            </a:r>
          </a:p>
        </p:txBody>
      </p:sp>
    </p:spTree>
    <p:extLst>
      <p:ext uri="{BB962C8B-B14F-4D97-AF65-F5344CB8AC3E}">
        <p14:creationId xmlns:p14="http://schemas.microsoft.com/office/powerpoint/2010/main" val="3590722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</TotalTime>
  <Words>1107</Words>
  <Application>Microsoft Office PowerPoint</Application>
  <PresentationFormat>On-screen Show (16:9)</PresentationFormat>
  <Paragraphs>71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Times New Roman</vt:lpstr>
      <vt:lpstr>Calibri</vt:lpstr>
      <vt:lpstr>Arial</vt:lpstr>
      <vt:lpstr>Calibri Light</vt:lpstr>
      <vt:lpstr>Berlin Sans FB</vt:lpstr>
      <vt:lpstr>Office Theme</vt:lpstr>
      <vt:lpstr>Cloud-Based Identity and Access Management System with Federated Authentication</vt:lpstr>
      <vt:lpstr>INTRODUCTION</vt:lpstr>
      <vt:lpstr>OBJECTIVE </vt:lpstr>
      <vt:lpstr>EXISTING SYSTEM</vt:lpstr>
      <vt:lpstr>PowerPoint Presentation</vt:lpstr>
      <vt:lpstr>METHODOLOGY</vt:lpstr>
      <vt:lpstr>LITERATURE REVIEW</vt:lpstr>
      <vt:lpstr>Module 1: User Identity &amp; Credential Management</vt:lpstr>
      <vt:lpstr>Module 1: 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Dhiliban MB</dc:creator>
  <cp:lastModifiedBy>Dhiliban MB</cp:lastModifiedBy>
  <cp:revision>8</cp:revision>
  <dcterms:modified xsi:type="dcterms:W3CDTF">2026-09-03T08:06:17Z</dcterms:modified>
</cp:coreProperties>
</file>